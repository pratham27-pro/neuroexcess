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32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0E2B"/>
              </a:gs>
              <a:gs pos="100000">
                <a:srgbClr val="2C185C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-237744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B2274"/>
              </a:gs>
              <a:gs pos="100000">
                <a:srgbClr val="2C185C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5296" y="5486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NeuroAccess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6309360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Privacy-first,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one-click accessibility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for the </a:t>
            </a:r>
            <a:r>
              <a:rPr sz="3800" b="1" i="0">
                <a:solidFill>
                  <a:srgbClr val="8B5CF6"/>
                </a:solidFill>
                <a:latin typeface="Segoe UI Semibold"/>
              </a:rPr>
              <a:t>whole web.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77639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BFE6"/>
                </a:solidFill>
                <a:latin typeface="Segoe UI"/>
              </a:rPr>
              <a:t>A browser extension that removes accessibility barriers in seconds — for blindness / low vision, color vision deficiency, dyslexia, and motor or cognitive challenges.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34924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21173D"/>
          </a:solidFill>
          <a:ln w="12700">
            <a:solidFill>
              <a:srgbClr val="3C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349240"/>
            <a:ext cx="17830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BFE6"/>
                </a:solidFill>
                <a:latin typeface="Segoe UI Semibold"/>
              </a:rPr>
              <a:t>Chrome Extension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534924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21173D"/>
          </a:solidFill>
          <a:ln w="12700">
            <a:solidFill>
              <a:srgbClr val="3C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8608" y="534924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BFE6"/>
                </a:solidFill>
                <a:latin typeface="Segoe UI Semibold"/>
              </a:rPr>
              <a:t>FastAPI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5349240"/>
            <a:ext cx="1874519" cy="402336"/>
          </a:xfrm>
          <a:prstGeom prst="roundRect">
            <a:avLst>
              <a:gd name="adj" fmla="val 50000"/>
            </a:avLst>
          </a:prstGeom>
          <a:solidFill>
            <a:srgbClr val="21173D"/>
          </a:solidFill>
          <a:ln w="12700">
            <a:solidFill>
              <a:srgbClr val="3C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5349240"/>
            <a:ext cx="187451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BFE6"/>
                </a:solidFill>
                <a:latin typeface="Segoe UI Semibold"/>
              </a:rPr>
              <a:t>Privacy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9C90C0"/>
                </a:solidFill>
                <a:latin typeface="Segoe UI Semibold"/>
              </a:rPr>
              <a:t>NeuroAccess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52881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C90C0"/>
                </a:solidFill>
                <a:latin typeface="Segoe UI"/>
              </a:rPr>
              <a:t>01 /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13448" y="1563624"/>
            <a:ext cx="4709160" cy="4160520"/>
          </a:xfrm>
          <a:prstGeom prst="roundRect">
            <a:avLst>
              <a:gd name="adj" fmla="val 4500"/>
            </a:avLst>
          </a:prstGeom>
          <a:solidFill>
            <a:srgbClr val="0E0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903720" y="1417320"/>
            <a:ext cx="470916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03720" y="1417320"/>
            <a:ext cx="4709160" cy="457200"/>
          </a:xfrm>
          <a:prstGeom prst="roundRect">
            <a:avLst>
              <a:gd name="adj" fmla="val 4500"/>
            </a:avLst>
          </a:prstGeom>
          <a:solidFill>
            <a:srgbClr val="F1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03720" y="1645920"/>
            <a:ext cx="4709160" cy="228600"/>
          </a:xfrm>
          <a:prstGeom prst="rect">
            <a:avLst/>
          </a:prstGeom>
          <a:solidFill>
            <a:srgbClr val="F1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04888" y="1600200"/>
            <a:ext cx="109728" cy="109728"/>
          </a:xfrm>
          <a:prstGeom prst="ellipse">
            <a:avLst/>
          </a:prstGeom>
          <a:solidFill>
            <a:srgbClr val="EF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42632" y="1600200"/>
            <a:ext cx="109728" cy="109728"/>
          </a:xfrm>
          <a:prstGeom prst="ellipse">
            <a:avLst/>
          </a:prstGeom>
          <a:solidFill>
            <a:srgbClr val="F4B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580376" y="1600200"/>
            <a:ext cx="109728" cy="109728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55280" y="1536192"/>
            <a:ext cx="3429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74152" y="153619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49C"/>
                </a:solidFill>
                <a:latin typeface="Segoe UI"/>
              </a:rPr>
              <a:t>your-website.com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194560"/>
            <a:ext cx="2377440" cy="201168"/>
          </a:xfrm>
          <a:prstGeom prst="roundRect">
            <a:avLst>
              <a:gd name="adj" fmla="val 50000"/>
            </a:avLst>
          </a:prstGeom>
          <a:solidFill>
            <a:srgbClr val="E4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69480" y="2651760"/>
            <a:ext cx="3977640" cy="146304"/>
          </a:xfrm>
          <a:prstGeom prst="roundRect">
            <a:avLst>
              <a:gd name="adj" fmla="val 50000"/>
            </a:avLst>
          </a:prstGeom>
          <a:solidFill>
            <a:srgbClr val="EC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269480" y="2926080"/>
            <a:ext cx="3659429" cy="146304"/>
          </a:xfrm>
          <a:prstGeom prst="roundRect">
            <a:avLst>
              <a:gd name="adj" fmla="val 50000"/>
            </a:avLst>
          </a:prstGeom>
          <a:solidFill>
            <a:srgbClr val="EC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269480" y="3200400"/>
            <a:ext cx="2784348" cy="146304"/>
          </a:xfrm>
          <a:prstGeom prst="roundRect">
            <a:avLst>
              <a:gd name="adj" fmla="val 50000"/>
            </a:avLst>
          </a:prstGeom>
          <a:solidFill>
            <a:srgbClr val="EC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269480" y="36118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9480" y="3611880"/>
            <a:ext cx="1874519" cy="1234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A1523"/>
                </a:solidFill>
                <a:latin typeface="Segoe UI"/>
              </a:rPr>
              <a:t>🖼️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590288"/>
            <a:ext cx="2423160" cy="4572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40" y="459028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ALT: golden retriever on beach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611880"/>
            <a:ext cx="1691640" cy="5029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36118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Continue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2062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803D"/>
                </a:solidFill>
                <a:latin typeface="Segoe UI"/>
              </a:rPr>
              <a:t>✓ AA contrast</a:t>
            </a:r>
          </a:p>
        </p:txBody>
      </p:sp>
      <p:sp>
        <p:nvSpPr>
          <p:cNvPr id="38" name="Oval 37"/>
          <p:cNvSpPr/>
          <p:nvPr/>
        </p:nvSpPr>
        <p:spPr>
          <a:xfrm>
            <a:off x="10671048" y="4709160"/>
            <a:ext cx="777240" cy="777240"/>
          </a:xfrm>
          <a:prstGeom prst="ellipse">
            <a:avLst/>
          </a:prstGeom>
          <a:solidFill>
            <a:srgbClr val="0E0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34472" y="4672584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782312"/>
            <a:ext cx="557784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The web still isn't accessible to everyone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0749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443D55"/>
                </a:solidFill>
                <a:latin typeface="Segoe UI"/>
              </a:rPr>
              <a:t>Missing image descriptions, poor contrast, weak keyboard navigation, and difficult reading interfaces make the web harder to use for millions of people.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443D55"/>
                </a:solidFill>
                <a:latin typeface="Segoe UI"/>
              </a:rPr>
              <a:t>These aren't edge cases — they affect school admissions, job applications, banking, healthcare forms, and daily communication.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5074920" cy="3291840"/>
          </a:xfrm>
          <a:prstGeom prst="roundRect">
            <a:avLst>
              <a:gd name="adj" fmla="val 6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5074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6D28D9"/>
                </a:solidFill>
                <a:latin typeface="Segoe UI Black"/>
              </a:rPr>
              <a:t>16%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43D55"/>
                </a:solidFill>
                <a:latin typeface="Segoe UI"/>
              </a:rPr>
              <a:t>of the world's population lives with a significant disability — most websites still aren't built for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E6680"/>
                </a:solidFill>
                <a:latin typeface="Segoe UI"/>
              </a:rPr>
              <a:t>World Health Organization, 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08760"/>
            <a:ext cx="5745175" cy="10881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81344" y="1769364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17693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🖼️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673352"/>
            <a:ext cx="446501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Missing alt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020824"/>
            <a:ext cx="446501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Images and controls that screen readers can't describe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2761488"/>
            <a:ext cx="5745175" cy="10881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81344" y="3022092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302209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926080"/>
            <a:ext cx="446501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Poor contrast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273552"/>
            <a:ext cx="446501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Small text and low-contrast color choices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4014216"/>
            <a:ext cx="5745175" cy="10881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81344" y="427482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1344" y="42748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⌨️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178808"/>
            <a:ext cx="446501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Weak keyboard nav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526280"/>
            <a:ext cx="446501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Precise clicking required, with no skip paths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5266944"/>
            <a:ext cx="5745175" cy="10881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81344" y="5527548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81344" y="55275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431536"/>
            <a:ext cx="446501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Reading fatigue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779008"/>
            <a:ext cx="446501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Dense text, with no pacing or read-aloud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From barrier to fix in one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680"/>
                </a:solidFill>
                <a:latin typeface="Segoe UI"/>
              </a:rPr>
              <a:t>No sign-up and no configuration — NeuroAccess detects and repairs accessibility barriers the moment you land on a page.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03 / 10</a:t>
            </a:r>
          </a:p>
        </p:txBody>
      </p:sp>
      <p:sp>
        <p:nvSpPr>
          <p:cNvPr id="10" name="Oval 9"/>
          <p:cNvSpPr/>
          <p:nvPr/>
        </p:nvSpPr>
        <p:spPr>
          <a:xfrm>
            <a:off x="1535392" y="1984248"/>
            <a:ext cx="512064" cy="512064"/>
          </a:xfrm>
          <a:prstGeom prst="ellipse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5392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507960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7960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Click the 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Open NeuroAccess on any page — no sign-up, no setup required.</a:t>
            </a:r>
          </a:p>
        </p:txBody>
      </p:sp>
      <p:sp>
        <p:nvSpPr>
          <p:cNvPr id="17" name="Oval 16"/>
          <p:cNvSpPr/>
          <p:nvPr/>
        </p:nvSpPr>
        <p:spPr>
          <a:xfrm>
            <a:off x="4405008" y="1984248"/>
            <a:ext cx="512064" cy="512064"/>
          </a:xfrm>
          <a:prstGeom prst="ellipse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5008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8256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77576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77576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2848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Instant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424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Scans the page for missing alt text, weak contrast, and navigation gaps.</a:t>
            </a:r>
          </a:p>
        </p:txBody>
      </p:sp>
      <p:sp>
        <p:nvSpPr>
          <p:cNvPr id="24" name="Oval 23"/>
          <p:cNvSpPr/>
          <p:nvPr/>
        </p:nvSpPr>
        <p:spPr>
          <a:xfrm>
            <a:off x="7274624" y="1984248"/>
            <a:ext cx="512064" cy="512064"/>
          </a:xfrm>
          <a:prstGeom prst="ellipse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74624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7872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247192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47192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464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Safe auto-fixes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40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Applies ARIA labels, contrast correction, and reading aids in real time.</a:t>
            </a:r>
          </a:p>
        </p:txBody>
      </p:sp>
      <p:sp>
        <p:nvSpPr>
          <p:cNvPr id="31" name="Oval 30"/>
          <p:cNvSpPr/>
          <p:nvPr/>
        </p:nvSpPr>
        <p:spPr>
          <a:xfrm>
            <a:off x="10144240" y="1984248"/>
            <a:ext cx="512064" cy="512064"/>
          </a:xfrm>
          <a:prstGeom prst="ellipse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4240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7488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116808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16808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2080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You're in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8656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Browse independently, with fixes that persist for the session.</a:t>
            </a:r>
          </a:p>
        </p:txBody>
      </p:sp>
      <p:sp>
        <p:nvSpPr>
          <p:cNvPr id="38" name="Chevron 37"/>
          <p:cNvSpPr/>
          <p:nvPr/>
        </p:nvSpPr>
        <p:spPr>
          <a:xfrm>
            <a:off x="3070784" y="3033248"/>
            <a:ext cx="310896" cy="261153"/>
          </a:xfrm>
          <a:prstGeom prst="chevron">
            <a:avLst>
              <a:gd name="adj" fmla="val 6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hevron 38"/>
          <p:cNvSpPr/>
          <p:nvPr/>
        </p:nvSpPr>
        <p:spPr>
          <a:xfrm>
            <a:off x="5940400" y="3033248"/>
            <a:ext cx="310896" cy="261153"/>
          </a:xfrm>
          <a:prstGeom prst="chevron">
            <a:avLst>
              <a:gd name="adj" fmla="val 6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hevron 39"/>
          <p:cNvSpPr/>
          <p:nvPr/>
        </p:nvSpPr>
        <p:spPr>
          <a:xfrm>
            <a:off x="8810016" y="3033248"/>
            <a:ext cx="310896" cy="261153"/>
          </a:xfrm>
          <a:prstGeom prst="chevron">
            <a:avLst>
              <a:gd name="adj" fmla="val 6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48640" y="5623560"/>
            <a:ext cx="11094415" cy="530352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5623560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1D95"/>
                </a:solidFill>
                <a:latin typeface="Segoe UI"/>
              </a:rPr>
              <a:t>⚡  Median time from page load to first fix: under 3 seconds — no configuration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WHO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Designed for real, everyday barriers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680"/>
                </a:solidFill>
                <a:latin typeface="Segoe UI"/>
              </a:rPr>
              <a:t>Every group below maps to specific NeuroAccess features — not a generic accessibility toggle.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185623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7452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Blind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3288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AI image labeling + OCR, ARIA fixes, voice commands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69164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21098" y="185623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1098" y="18562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5458" y="187452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Low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7674" y="253288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Smart contrast fixer, readability profiles, focus visibility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169164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10676" y="185623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10676" y="18562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5036" y="187452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Color vision deficiency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7252" y="253288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Color-blind presets + WCAG contrast adjustments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33756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350215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5021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52044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Dyslexia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17880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Text-to-speech, paced reading, profile simplification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218" y="333756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21098" y="350215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1098" y="35021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🖐️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5458" y="352044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Motor impairments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7674" y="417880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Voice navigation, keyboard enhancements, skip links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7796" y="333756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10676" y="350215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10676" y="35021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5036" y="352044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Cognitive / attention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7252" y="417880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One-click mode, guided profiles, cleaner navigation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983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31520" y="514807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1480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516636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Age-related decline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582472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Personalized combinations of every profile above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38218" y="4983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21098" y="514807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1098" y="51480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5458" y="516636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Temporary impairments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7674" y="582472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Instant contrast, TTS, keyboard-first shortcuts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27796" y="4983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310676" y="5148072"/>
            <a:ext cx="475488" cy="47548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10676" y="51480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523"/>
                </a:solidFill>
                <a:latin typeface="Segoe UI"/>
              </a:rPr>
              <a:t>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05036" y="5166360"/>
            <a:ext cx="25551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523"/>
                </a:solidFill>
                <a:latin typeface="Segoe UI Semibold"/>
              </a:rPr>
              <a:t>Deaf / hard-of-hearing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7252" y="5824728"/>
            <a:ext cx="30763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Caption/transcript-oriented, visual-first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What NeuroAccess does — and where it stands today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64008" cy="2286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8096" y="169164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16916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56384" y="17099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56384" y="170992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475569"/>
                </a:solidFill>
                <a:latin typeface="Segoe UI Semibold"/>
              </a:rPr>
              <a:t>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37744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One-Click Global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86207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Full-page audit + safe auto-fixes with a before/after summary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824" y="150876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90824" y="1508760"/>
            <a:ext cx="64008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10280" y="169164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0280" y="16916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🏷️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98568" y="17099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98568" y="170992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45309"/>
                </a:solidFill>
                <a:latin typeface="Segoe UI Semibold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0280" y="237744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AI Image Labeling &amp;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0280" y="286207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Backend captioning + OCR ready; extension wiring in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8" y="150876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33008" y="1508760"/>
            <a:ext cx="64008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52464" y="169164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52464" y="16916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40752" y="17099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40752" y="170992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45309"/>
                </a:solidFill>
                <a:latin typeface="Segoe UI Semibold"/>
              </a:rP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2464" y="237744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Text-to-Speech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464" y="286207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Word-synced read-aloud, currently tied to reading mode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5192" y="150876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75192" y="1508760"/>
            <a:ext cx="64008" cy="2286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294648" y="169164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94648" y="16916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🎙️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82936" y="17099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82936" y="170992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475569"/>
                </a:solidFill>
                <a:latin typeface="Segoe UI Semibold"/>
              </a:rPr>
              <a:t>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4648" y="237744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Voice Commands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4648" y="286207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Hands-free navigation via speech recognition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06908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4069080"/>
            <a:ext cx="64008" cy="2286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8096" y="425196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8096" y="425196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56384" y="4270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DD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56384" y="4270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15803D"/>
                </a:solidFill>
                <a:latin typeface="Segoe UI Semibold"/>
              </a:rPr>
              <a:t>BUILT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493776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Smart Contrast Fixer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542239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WCAG AA/AAA levels + color-blind presets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90824" y="406908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390824" y="4069080"/>
            <a:ext cx="64008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610280" y="425196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10280" y="425196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⌨️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98568" y="4270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98568" y="4270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45309"/>
                </a:solidFill>
                <a:latin typeface="Segoe UI Semibold"/>
              </a:rPr>
              <a:t>PARTIAL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10280" y="493776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Keyboard Navigation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0280" y="542239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Skip links shipped; full focus/tab-flow polish next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3008" y="406908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33008" y="4069080"/>
            <a:ext cx="64008" cy="2286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52464" y="425196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52464" y="425196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🧩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40752" y="4270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40752" y="4270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475569"/>
                </a:solidFill>
                <a:latin typeface="Segoe UI Semibold"/>
              </a:rPr>
              <a:t>PLANNED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52464" y="493776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Accessibility Profiles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2464" y="542239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One-click bundles: Default / Blind / Low Vision / Dyslexic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75192" y="4069080"/>
            <a:ext cx="256786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075192" y="4069080"/>
            <a:ext cx="64008" cy="2286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294648" y="425196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94648" y="425196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523"/>
                </a:solidFill>
                <a:latin typeface="Segoe UI"/>
              </a:rPr>
              <a:t>📊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82936" y="4270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682936" y="4270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475569"/>
                </a:solidFill>
                <a:latin typeface="Segoe UI Semibold"/>
              </a:rPr>
              <a:t>PLANNED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94648" y="4937760"/>
            <a:ext cx="21655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523"/>
                </a:solidFill>
                <a:latin typeface="Segoe UI Semibold"/>
              </a:rPr>
              <a:t>Report Export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94648" y="5422392"/>
            <a:ext cx="21655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E6680"/>
                </a:solidFill>
                <a:latin typeface="Segoe UI"/>
              </a:rPr>
              <a:t>Machine-readable accessibility report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Three modules, one privacy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680"/>
                </a:solidFill>
                <a:latin typeface="Segoe UI"/>
              </a:rPr>
              <a:t>Extension and Website only reach the backend for AI calls and auth — everything else runs on-device.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318608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5318608" cy="457200"/>
          </a:xfrm>
          <a:prstGeom prst="roundRect">
            <a:avLst>
              <a:gd name="adj" fmla="val 7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5318608" cy="2286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1691640"/>
            <a:ext cx="495284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58568"/>
            <a:ext cx="49162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28D9"/>
                </a:solidFill>
                <a:latin typeface="Segoe UI"/>
              </a:rPr>
              <a:t>Plasmo · TypeScript · Tailwind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51176"/>
            <a:ext cx="49162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Core product — every on-device feature runs directly in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8" y="1691640"/>
            <a:ext cx="5318608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24448" y="1691640"/>
            <a:ext cx="5318608" cy="457200"/>
          </a:xfrm>
          <a:prstGeom prst="roundRect">
            <a:avLst>
              <a:gd name="adj" fmla="val 7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24448" y="1920240"/>
            <a:ext cx="5318608" cy="2286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5616" y="1691640"/>
            <a:ext cx="495284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6" y="2258568"/>
            <a:ext cx="49162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28D9"/>
                </a:solidFill>
                <a:latin typeface="Segoe UI"/>
              </a:rPr>
              <a:t>Vite + React · Tailwind v4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5616" y="2551176"/>
            <a:ext cx="49162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Marketing site plus account auth (login, signup, profile).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6544" y="181051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6544" y="1810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4C1D95"/>
                </a:solidFill>
                <a:latin typeface="Segoe UI Semibold"/>
              </a:rPr>
              <a:t>ON-DEVICE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2352" y="181051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82352" y="1810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4C1D95"/>
                </a:solidFill>
                <a:latin typeface="Segoe UI Semibold"/>
              </a:rPr>
              <a:t>ON-DEVICE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5608" y="3429000"/>
            <a:ext cx="384048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175608" y="3429000"/>
            <a:ext cx="3840480" cy="457200"/>
          </a:xfrm>
          <a:prstGeom prst="roundRect">
            <a:avLst>
              <a:gd name="adj" fmla="val 7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75608" y="3657600"/>
            <a:ext cx="3840480" cy="228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76776" y="34290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6776" y="3995928"/>
            <a:ext cx="343814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"/>
              </a:rPr>
              <a:t>FastAPI (Python) · uv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6776" y="4288536"/>
            <a:ext cx="343814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Thin AI proxy — captioning, OCR, and JWT auth only.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07944" y="2880360"/>
            <a:ext cx="1882064" cy="548640"/>
          </a:xfrm>
          <a:prstGeom prst="bentConnector3">
            <a:avLst/>
          </a:prstGeom>
          <a:ln w="22225">
            <a:solidFill>
              <a:srgbClr val="6D28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101688" y="2880360"/>
            <a:ext cx="1882064" cy="548640"/>
          </a:xfrm>
          <a:prstGeom prst="bentConnector3">
            <a:avLst/>
          </a:prstGeom>
          <a:ln w="22225">
            <a:solidFill>
              <a:srgbClr val="6D28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346808" y="5074920"/>
            <a:ext cx="32461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346808" y="5074920"/>
            <a:ext cx="3246120" cy="457200"/>
          </a:xfrm>
          <a:prstGeom prst="roundRect">
            <a:avLst>
              <a:gd name="adj" fmla="val 7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346808" y="5303520"/>
            <a:ext cx="3246120" cy="2286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47976" y="50749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AI Providers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976" y="5641848"/>
            <a:ext cx="28437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Segoe UI"/>
              </a:rPr>
              <a:t>HuggingFace BLIP · EasyOCR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976" y="5934456"/>
            <a:ext cx="28437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Image captioning + OCR fallback, opt-in only.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98768" y="5074920"/>
            <a:ext cx="32461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598768" y="5074920"/>
            <a:ext cx="3246120" cy="457200"/>
          </a:xfrm>
          <a:prstGeom prst="roundRect">
            <a:avLst>
              <a:gd name="adj" fmla="val 7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98768" y="5303520"/>
            <a:ext cx="3246120" cy="2286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99936" y="50749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MongoDB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9936" y="5641848"/>
            <a:ext cx="28437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Segoe UI"/>
              </a:rPr>
              <a:t>pymongo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9936" y="5934456"/>
            <a:ext cx="28437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680"/>
                </a:solidFill>
                <a:latin typeface="Segoe UI"/>
              </a:rPr>
              <a:t>Stores authenticated users via JWT sessions.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3969868" y="4617720"/>
            <a:ext cx="1165860" cy="457200"/>
          </a:xfrm>
          <a:prstGeom prst="bentConnector3">
            <a:avLst/>
          </a:prstGeom>
          <a:ln w="22225">
            <a:solidFill>
              <a:srgbClr val="6D28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55968" y="4617720"/>
            <a:ext cx="1165860" cy="457200"/>
          </a:xfrm>
          <a:prstGeom prst="bentConnector3">
            <a:avLst/>
          </a:prstGeom>
          <a:ln w="22225">
            <a:solidFill>
              <a:srgbClr val="6D28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SHIPPING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Five features, fully built in the extension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85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64008" cy="8522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1678838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67883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523"/>
                </a:solidFill>
                <a:latin typeface="Segoe UI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508760"/>
            <a:ext cx="23774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Contrast Fixer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508760"/>
            <a:ext cx="64922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E6680"/>
                </a:solidFill>
                <a:latin typeface="Segoe UI"/>
              </a:rPr>
              <a:t>WCAG-oriented contrast fixes and color-blind presets (protanopia, deuteranopia, tritanopia).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74375" y="180685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D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74375" y="180685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15803D"/>
                </a:solidFill>
                <a:latin typeface="Segoe UI Semibold"/>
              </a:rPr>
              <a:t>BUILT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07284"/>
            <a:ext cx="11094415" cy="85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2507284"/>
            <a:ext cx="64008" cy="8522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536" y="2677362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267736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523"/>
                </a:solidFill>
                <a:latin typeface="Segoe UI"/>
              </a:rPr>
              <a:t>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07284"/>
            <a:ext cx="23774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Reading Ruler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507284"/>
            <a:ext cx="64922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E6680"/>
                </a:solidFill>
                <a:latin typeface="Segoe UI"/>
              </a:rPr>
              <a:t>Dims everything but the active line, with mouse, keyboard, or combined follow modes.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74375" y="280537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D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74375" y="280537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15803D"/>
                </a:solidFill>
                <a:latin typeface="Segoe UI Semibold"/>
              </a:rPr>
              <a:t>BUILT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05808"/>
            <a:ext cx="11094415" cy="85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505808"/>
            <a:ext cx="64008" cy="8522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9536" y="3675886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367588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523"/>
                </a:solidFill>
                <a:latin typeface="Segoe UI"/>
              </a:rPr>
              <a:t>🗣️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505808"/>
            <a:ext cx="23774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Syllable Highlighting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505808"/>
            <a:ext cx="64922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E6680"/>
                </a:solidFill>
                <a:latin typeface="Segoe UI"/>
              </a:rPr>
              <a:t>Highlights syllables in sync with read-aloud, powered by the browser's native speech engine.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74375" y="38039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D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74375" y="380390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15803D"/>
                </a:solidFill>
                <a:latin typeface="Segoe UI Semibold"/>
              </a:rPr>
              <a:t>BUILT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04332"/>
            <a:ext cx="11094415" cy="85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504332"/>
            <a:ext cx="64008" cy="8522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59536" y="4674410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6" y="467441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523"/>
                </a:solidFill>
                <a:latin typeface="Segoe UI"/>
              </a:rPr>
              <a:t>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504332"/>
            <a:ext cx="23774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Calm Theme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504332"/>
            <a:ext cx="64922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E6680"/>
                </a:solidFill>
                <a:latin typeface="Segoe UI"/>
              </a:rPr>
              <a:t>Muted colors, reduced motion, and decluttering for lower cognitive load.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74375" y="4802426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D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74375" y="480242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15803D"/>
                </a:solidFill>
                <a:latin typeface="Segoe UI Semibold"/>
              </a:rPr>
              <a:t>BUILT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502856"/>
            <a:ext cx="11094415" cy="85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5502856"/>
            <a:ext cx="64008" cy="8522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59536" y="5672934"/>
            <a:ext cx="512064" cy="512064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" y="567293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523"/>
                </a:solidFill>
                <a:latin typeface="Segoe UI"/>
              </a:rPr>
              <a:t>⏭️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502856"/>
            <a:ext cx="23774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Skip Links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5502856"/>
            <a:ext cx="6492240" cy="852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E6680"/>
                </a:solidFill>
                <a:latin typeface="Segoe UI"/>
              </a:rPr>
              <a:t>Landmark-based skip navigation to jump past repetitive content with the keyboard.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774375" y="580095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D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74375" y="580095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15803D"/>
                </a:solidFill>
                <a:latin typeface="Segoe UI Semibold"/>
              </a:rPr>
              <a:t>BUILT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What's shipping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680"/>
                </a:solidFill>
                <a:latin typeface="Segoe UI"/>
              </a:rPr>
              <a:t>Four focused workstreams close the remaining gap to the full product vision.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08 / 10</a:t>
            </a:r>
          </a:p>
        </p:txBody>
      </p:sp>
      <p:sp>
        <p:nvSpPr>
          <p:cNvPr id="10" name="Oval 9"/>
          <p:cNvSpPr/>
          <p:nvPr/>
        </p:nvSpPr>
        <p:spPr>
          <a:xfrm>
            <a:off x="1535392" y="198424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5392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Segoe UI Semibold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982648" y="280720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82648" y="2807208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6D28D9"/>
                </a:solidFill>
                <a:latin typeface="Segoe UI Semibold"/>
              </a:rPr>
              <a:t>NEXT</a:t>
            </a:r>
          </a:p>
        </p:txBody>
      </p:sp>
      <p:sp>
        <p:nvSpPr>
          <p:cNvPr id="15" name="Oval 14"/>
          <p:cNvSpPr/>
          <p:nvPr/>
        </p:nvSpPr>
        <p:spPr>
          <a:xfrm>
            <a:off x="1507960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7960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One-Click Global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Page audit + safe auto-fixes (alt text, ARIA, heading helpers) with a before/after summary.</a:t>
            </a:r>
          </a:p>
        </p:txBody>
      </p:sp>
      <p:sp>
        <p:nvSpPr>
          <p:cNvPr id="19" name="Oval 18"/>
          <p:cNvSpPr/>
          <p:nvPr/>
        </p:nvSpPr>
        <p:spPr>
          <a:xfrm>
            <a:off x="4405008" y="198424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5008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Segoe UI Semibold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8256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77576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7576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🏷️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2848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AI Alt-Text + 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9424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Wire the extension to the existing captioning/OCR backend; add hands-free voice commands.</a:t>
            </a:r>
          </a:p>
        </p:txBody>
      </p:sp>
      <p:sp>
        <p:nvSpPr>
          <p:cNvPr id="26" name="Oval 25"/>
          <p:cNvSpPr/>
          <p:nvPr/>
        </p:nvSpPr>
        <p:spPr>
          <a:xfrm>
            <a:off x="7274624" y="198424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4624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Segoe UI Semibol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7872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47192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47192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2464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Report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9040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Machine-readable accessibility report, generated from the Global Mode audit.</a:t>
            </a:r>
          </a:p>
        </p:txBody>
      </p:sp>
      <p:sp>
        <p:nvSpPr>
          <p:cNvPr id="33" name="Oval 32"/>
          <p:cNvSpPr/>
          <p:nvPr/>
        </p:nvSpPr>
        <p:spPr>
          <a:xfrm>
            <a:off x="10144240" y="198424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44240" y="19842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Segoe UI Semibold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57488" y="2660904"/>
            <a:ext cx="2485568" cy="25968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116808" y="2880360"/>
            <a:ext cx="566928" cy="56692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16808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523"/>
                </a:solidFill>
                <a:latin typeface="Segoe UI"/>
              </a:rPr>
              <a:t>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2080" y="3593592"/>
            <a:ext cx="21563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523"/>
                </a:solidFill>
                <a:latin typeface="Segoe UI Semibold"/>
              </a:rPr>
              <a:t>Accessibility Profiles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8656" y="3959352"/>
            <a:ext cx="2083232" cy="1179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680"/>
                </a:solidFill>
                <a:latin typeface="Segoe UI"/>
              </a:rPr>
              <a:t>One-click Default / Blind / Low Vision / Dyslexic presets bundling existing features.</a:t>
            </a:r>
          </a:p>
        </p:txBody>
      </p:sp>
      <p:sp>
        <p:nvSpPr>
          <p:cNvPr id="40" name="Chevron 39"/>
          <p:cNvSpPr/>
          <p:nvPr/>
        </p:nvSpPr>
        <p:spPr>
          <a:xfrm>
            <a:off x="3070784" y="3033248"/>
            <a:ext cx="310896" cy="261153"/>
          </a:xfrm>
          <a:prstGeom prst="chevron">
            <a:avLst>
              <a:gd name="adj" fmla="val 6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hevron 40"/>
          <p:cNvSpPr/>
          <p:nvPr/>
        </p:nvSpPr>
        <p:spPr>
          <a:xfrm>
            <a:off x="5940400" y="3033248"/>
            <a:ext cx="310896" cy="261153"/>
          </a:xfrm>
          <a:prstGeom prst="chevron">
            <a:avLst>
              <a:gd name="adj" fmla="val 6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hevron 41"/>
          <p:cNvSpPr/>
          <p:nvPr/>
        </p:nvSpPr>
        <p:spPr>
          <a:xfrm>
            <a:off x="8810016" y="3033248"/>
            <a:ext cx="310896" cy="261153"/>
          </a:xfrm>
          <a:prstGeom prst="chevron">
            <a:avLst>
              <a:gd name="adj" fmla="val 6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48640" y="5623560"/>
            <a:ext cx="11094415" cy="530352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623560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1D95"/>
                </a:solidFill>
                <a:latin typeface="Segoe UI"/>
              </a:rPr>
              <a:t>🎯  Target: full parity with the product vision in the next milestone.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D28D9"/>
                </a:solidFill>
                <a:latin typeface="Segoe UI Semibold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523"/>
                </a:solidFill>
                <a:latin typeface="Segoe UI Semibold"/>
              </a:rPr>
              <a:t>Privacy and security, by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E8E3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8B849C"/>
                </a:solidFill>
                <a:latin typeface="Segoe UI Semibold"/>
              </a:rPr>
              <a:t>NeuroAccess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49C"/>
                </a:solidFill>
                <a:latin typeface="Segoe UI"/>
              </a:rP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18608" cy="22631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1746504"/>
            <a:ext cx="658368" cy="65836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A1523"/>
                </a:solidFill>
                <a:latin typeface="Segoe UI"/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801368"/>
            <a:ext cx="3947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523"/>
                </a:solidFill>
                <a:latin typeface="Segoe UI Semibold"/>
              </a:rPr>
              <a:t>Local-first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4587088" cy="891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680"/>
                </a:solidFill>
                <a:latin typeface="Segoe UI"/>
              </a:rPr>
              <a:t>Every shipped feature today runs entirely on-device — no data leaves the browser.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8" y="1508760"/>
            <a:ext cx="5318608" cy="22631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98768" y="1746504"/>
            <a:ext cx="658368" cy="65836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768" y="174650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A1523"/>
                </a:solidFill>
                <a:latin typeface="Segoe UI"/>
              </a:rPr>
              <a:t>☁️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7448" y="1801368"/>
            <a:ext cx="3947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523"/>
                </a:solidFill>
                <a:latin typeface="Segoe UI Semibold"/>
              </a:rPr>
              <a:t>Optional cloud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8" y="2679192"/>
            <a:ext cx="4587088" cy="891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680"/>
                </a:solidFill>
                <a:latin typeface="Segoe UI"/>
              </a:rPr>
              <a:t>Image labeling and OCR are opt-in and proxied through our backend, never called directly.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91940"/>
            <a:ext cx="5318608" cy="22631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" y="4329684"/>
            <a:ext cx="658368" cy="65836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32968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A1523"/>
                </a:solidFill>
                <a:latin typeface="Segoe UI"/>
              </a:rPr>
              <a:t>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384548"/>
            <a:ext cx="3947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523"/>
                </a:solidFill>
                <a:latin typeface="Segoe UI Semibold"/>
              </a:rPr>
              <a:t>No hidden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62372"/>
            <a:ext cx="4587088" cy="891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680"/>
                </a:solidFill>
                <a:latin typeface="Segoe UI"/>
              </a:rPr>
              <a:t>No tracking of browsing content, ever — this is an assistive tool, not a data product.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8" y="4091940"/>
            <a:ext cx="5318608" cy="22631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98768" y="4329684"/>
            <a:ext cx="658368" cy="658368"/>
          </a:xfrm>
          <a:prstGeom prst="ellipse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98768" y="432968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A1523"/>
                </a:solidFill>
                <a:latin typeface="Segoe UI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7448" y="4384548"/>
            <a:ext cx="394700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523"/>
                </a:solidFill>
                <a:latin typeface="Segoe UI Semibold"/>
              </a:rPr>
              <a:t>Secure API key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0208" y="5262372"/>
            <a:ext cx="4587088" cy="891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680"/>
                </a:solidFill>
                <a:latin typeface="Segoe UI"/>
              </a:rPr>
              <a:t>Third-party keys stay server-side in the backend, never bundled into the extension.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0E2B"/>
              </a:gs>
              <a:gs pos="100000">
                <a:srgbClr val="2C185C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286000" y="274320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3B2274"/>
              </a:gs>
              <a:gs pos="100000">
                <a:srgbClr val="2C185C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6D28D9"/>
              </a:gs>
              <a:gs pos="100000">
                <a:srgbClr val="8B5CF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68580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691640"/>
            <a:ext cx="1054303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97480"/>
            <a:ext cx="87142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BFE6"/>
                </a:solidFill>
                <a:latin typeface="Segoe UI"/>
              </a:rPr>
              <a:t>Independence, dignity, and speed — for every user, on every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0928" y="3703320"/>
            <a:ext cx="2331720" cy="1371600"/>
          </a:xfrm>
          <a:prstGeom prst="roundRect">
            <a:avLst>
              <a:gd name="adj" fmla="val 9000"/>
            </a:avLst>
          </a:prstGeom>
          <a:solidFill>
            <a:srgbClr val="21173D"/>
          </a:solidFill>
          <a:ln w="12700">
            <a:solidFill>
              <a:srgbClr val="3C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8088" y="39959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B5CF6"/>
                </a:solidFill>
                <a:latin typeface="Segoe UI Semibold"/>
              </a:rPr>
              <a:t>TEAM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088" y="441655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Segoe UI Semibold"/>
              </a:rPr>
              <a:t>Pratishtha Mehra</a:t>
            </a:r>
            <a:endParaRPr sz="1400" b="1" i="0" dirty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26968" y="3703320"/>
            <a:ext cx="2331720" cy="1371600"/>
          </a:xfrm>
          <a:prstGeom prst="roundRect">
            <a:avLst>
              <a:gd name="adj" fmla="val 9000"/>
            </a:avLst>
          </a:prstGeom>
          <a:solidFill>
            <a:srgbClr val="21173D"/>
          </a:solidFill>
          <a:ln w="12700">
            <a:solidFill>
              <a:srgbClr val="3C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4128" y="39959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B5CF6"/>
                </a:solidFill>
                <a:latin typeface="Segoe UI Semibold"/>
              </a:rPr>
              <a:t>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4128" y="441655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Segoe UI Semibold"/>
              </a:rPr>
              <a:t>Pratham Jain</a:t>
            </a:r>
            <a:endParaRPr sz="1400" b="1" i="0" dirty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33008" y="3703320"/>
            <a:ext cx="2331720" cy="1371600"/>
          </a:xfrm>
          <a:prstGeom prst="roundRect">
            <a:avLst>
              <a:gd name="adj" fmla="val 9000"/>
            </a:avLst>
          </a:prstGeom>
          <a:solidFill>
            <a:srgbClr val="21173D"/>
          </a:solidFill>
          <a:ln w="12700">
            <a:solidFill>
              <a:srgbClr val="3C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0168" y="39959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B5CF6"/>
                </a:solidFill>
                <a:latin typeface="Segoe UI Semibold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8" y="441655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Segoe UI Semibold"/>
              </a:rPr>
              <a:t>Vaibhav Chaturvedi</a:t>
            </a:r>
            <a:endParaRPr sz="1400" b="1" i="0" dirty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39048" y="3703320"/>
            <a:ext cx="2331720" cy="1371600"/>
          </a:xfrm>
          <a:prstGeom prst="roundRect">
            <a:avLst>
              <a:gd name="adj" fmla="val 9000"/>
            </a:avLst>
          </a:prstGeom>
          <a:solidFill>
            <a:srgbClr val="21173D"/>
          </a:solidFill>
          <a:ln w="12700">
            <a:solidFill>
              <a:srgbClr val="3C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76208" y="39959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B5CF6"/>
                </a:solidFill>
                <a:latin typeface="Segoe UI Semibold"/>
              </a:rPr>
              <a:t>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6208" y="441655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FFFFFF"/>
                </a:solidFill>
                <a:latin typeface="Segoe UI Semibold"/>
              </a:rPr>
              <a:t>Simrat Oberoi</a:t>
            </a:r>
            <a:endParaRPr sz="1400" b="1" i="0" dirty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37360" y="5623560"/>
            <a:ext cx="87142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90C0"/>
                </a:solidFill>
                <a:latin typeface="Segoe UI"/>
              </a:rPr>
              <a:t>github.com  ·  </a:t>
            </a:r>
            <a:r>
              <a:rPr sz="1100" b="0" i="0" dirty="0" err="1">
                <a:solidFill>
                  <a:srgbClr val="9C90C0"/>
                </a:solidFill>
                <a:latin typeface="Segoe UI"/>
              </a:rPr>
              <a:t>NeuroAccess</a:t>
            </a:r>
            <a:endParaRPr sz="1100" b="0" i="0" dirty="0">
              <a:solidFill>
                <a:srgbClr val="9C90C0"/>
              </a:solidFill>
              <a:latin typeface="Segoe UI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55664"/>
            <a:ext cx="11094415" cy="0"/>
          </a:xfrm>
          <a:prstGeom prst="line">
            <a:avLst/>
          </a:prstGeom>
          <a:ln w="9525">
            <a:solidFill>
              <a:srgbClr val="3C2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50">
                <a:solidFill>
                  <a:srgbClr val="9C90C0"/>
                </a:solidFill>
                <a:latin typeface="Segoe UI Semibold"/>
              </a:rPr>
              <a:t>NeuroAccess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C90C0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1023</Words>
  <Application>Microsoft Office PowerPoint</Application>
  <PresentationFormat>Widescreen</PresentationFormat>
  <Paragraphs>224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Pratham Jain</cp:lastModifiedBy>
  <cp:revision>2</cp:revision>
  <dcterms:created xsi:type="dcterms:W3CDTF">2013-01-27T09:14:16Z</dcterms:created>
  <dcterms:modified xsi:type="dcterms:W3CDTF">2026-07-20T15:37:09Z</dcterms:modified>
  <cp:category/>
</cp:coreProperties>
</file>